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ashbadgujar15.github.io/NavaSankalp-PravasiShram-AI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YashBadgujar15/NavaSankalp-PravasiShram-AI#-pravasishram-ai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ashbadgujar15.github.io/NavaSankalp-PravasiShram-AI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YashBadgujar15/NavaSankalp-PravasiShram-AI#-pravasishram-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383489"/>
            <a:ext cx="6949440" cy="347472"/>
          </a:xfrm>
          <a:prstGeom prst="roundRect">
            <a:avLst/>
          </a:prstGeom>
          <a:solidFill>
            <a:srgbClr val="0E1C36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234" y="492883"/>
            <a:ext cx="519424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B923C"/>
                </a:solidFill>
              </a:defRPr>
            </a:pPr>
            <a:r>
              <a:rPr sz="1200" dirty="0"/>
              <a:t>★ DIGITAL SHRAM SANKALP IDEATION HACKATHON 2026 • </a:t>
            </a:r>
            <a:r>
              <a:rPr sz="1200" dirty="0" err="1"/>
              <a:t>MoLE</a:t>
            </a:r>
            <a:r>
              <a:rPr sz="1200" dirty="0"/>
              <a:t> GOVT OF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55497"/>
            <a:ext cx="3959352" cy="876144"/>
          </a:xfrm>
          <a:prstGeom prst="roundRect">
            <a:avLst/>
          </a:prstGeom>
          <a:solidFill>
            <a:srgbClr val="0A18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9560" y="543957"/>
            <a:ext cx="391363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rPr sz="1600" dirty="0"/>
              <a:t>🎯 PROBLEM STATEMENT 1: </a:t>
            </a:r>
            <a:r>
              <a:rPr lang="en-US" sz="1600" b="1" dirty="0"/>
              <a:t>Migrant Worker Tracking in </a:t>
            </a:r>
            <a:r>
              <a:rPr lang="en-US" sz="1600" b="1" dirty="0" err="1"/>
              <a:t>eShram</a:t>
            </a: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989417"/>
            <a:ext cx="107259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PRAVASISHRAM AI</a:t>
            </a:r>
          </a:p>
          <a:p>
            <a:pPr>
              <a:defRPr sz="2000" b="1">
                <a:solidFill>
                  <a:srgbClr val="F97316"/>
                </a:solidFill>
              </a:defRPr>
            </a:pPr>
            <a:r>
              <a:t>“Track the migration event, not the person.”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Consent-Driven Migration Intelligence for Dignity, Welfare Delivery &amp; Inter-State Coordination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6995160" cy="3977639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681" y="2536647"/>
            <a:ext cx="243278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B923C"/>
                </a:solidFill>
              </a:defRPr>
            </a:pPr>
            <a:r>
              <a:rPr sz="1200" dirty="0"/>
              <a:t>★ SUBMISSION TEAM: NAVASANKALP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3200400" cy="1508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3035808"/>
            <a:ext cx="2880360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FB923C"/>
                </a:solidFill>
              </a:defRPr>
            </a:pPr>
            <a:r>
              <a:rPr dirty="0"/>
              <a:t>★ TEAM LEADER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rPr sz="1200" dirty="0"/>
              <a:t>BADGUJAR YASH RAMESHBHAI</a:t>
            </a:r>
          </a:p>
          <a:p>
            <a:pPr>
              <a:spcBef>
                <a:spcPts val="300"/>
              </a:spcBef>
              <a:defRPr sz="880">
                <a:solidFill>
                  <a:srgbClr val="CBD5E1"/>
                </a:solidFill>
              </a:defRPr>
            </a:pPr>
            <a:r>
              <a:rPr sz="1200" dirty="0" smtClean="0"/>
              <a:t>Roll</a:t>
            </a:r>
            <a:r>
              <a:rPr lang="en-IN" sz="1200" dirty="0" smtClean="0"/>
              <a:t> no</a:t>
            </a:r>
            <a:r>
              <a:rPr sz="1200" dirty="0" smtClean="0"/>
              <a:t>: </a:t>
            </a:r>
            <a:r>
              <a:rPr sz="1200" dirty="0"/>
              <a:t>ET25BTCO801 | Computer Engineering</a:t>
            </a:r>
            <a:br>
              <a:rPr sz="1200" dirty="0"/>
            </a:br>
            <a:r>
              <a:rPr sz="1200" dirty="0" err="1"/>
              <a:t>Sarvajanik</a:t>
            </a:r>
            <a:r>
              <a:rPr sz="1200" dirty="0"/>
              <a:t> College of </a:t>
            </a:r>
            <a:r>
              <a:rPr sz="1200" dirty="0" err="1"/>
              <a:t>Engg</a:t>
            </a:r>
            <a:r>
              <a:rPr sz="1200" dirty="0"/>
              <a:t>. &amp; Tech. (SCET), Surat</a:t>
            </a:r>
            <a:br>
              <a:rPr sz="1200" dirty="0"/>
            </a:br>
            <a:r>
              <a:rPr sz="1200" dirty="0"/>
              <a:t>Email: yashbadgujar.co24d3@scet.ac.in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926080"/>
            <a:ext cx="3200400" cy="1508760"/>
          </a:xfrm>
          <a:prstGeom prst="roundRect">
            <a:avLst/>
          </a:prstGeom>
          <a:solidFill>
            <a:srgbClr val="0A102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3035808"/>
            <a:ext cx="2880360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rPr dirty="0"/>
              <a:t>• TEAM MEMBER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rPr sz="1200" dirty="0"/>
              <a:t>SONAR ANJALI SHIVDAS</a:t>
            </a:r>
          </a:p>
          <a:p>
            <a:pPr>
              <a:spcBef>
                <a:spcPts val="300"/>
              </a:spcBef>
              <a:defRPr sz="880">
                <a:solidFill>
                  <a:srgbClr val="CBD5E1"/>
                </a:solidFill>
              </a:defRPr>
            </a:pPr>
            <a:r>
              <a:rPr sz="1200" dirty="0" smtClean="0"/>
              <a:t>Roll</a:t>
            </a:r>
            <a:r>
              <a:rPr lang="en-IN" sz="1200" dirty="0" smtClean="0"/>
              <a:t> no</a:t>
            </a:r>
            <a:r>
              <a:rPr sz="1200" dirty="0" smtClean="0"/>
              <a:t>: </a:t>
            </a:r>
            <a:r>
              <a:rPr sz="1200" dirty="0"/>
              <a:t>ET25BTCO821 | Computer Engineering</a:t>
            </a:r>
            <a:br>
              <a:rPr sz="1200" dirty="0"/>
            </a:br>
            <a:r>
              <a:rPr sz="1200" dirty="0" err="1"/>
              <a:t>Sarvajanik</a:t>
            </a:r>
            <a:r>
              <a:rPr sz="1200" dirty="0"/>
              <a:t> College of </a:t>
            </a:r>
            <a:r>
              <a:rPr sz="1200" dirty="0" err="1"/>
              <a:t>Engg</a:t>
            </a:r>
            <a:r>
              <a:rPr sz="1200" dirty="0"/>
              <a:t>. &amp; Tech. (SCET), Surat</a:t>
            </a:r>
            <a:br>
              <a:rPr sz="1200" dirty="0"/>
            </a:br>
            <a:r>
              <a:rPr sz="1200" dirty="0"/>
              <a:t>Email: anjalisonar.co24d3@scet.ac.in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572000"/>
            <a:ext cx="3200400" cy="1508760"/>
          </a:xfrm>
          <a:prstGeom prst="roundRect">
            <a:avLst/>
          </a:prstGeom>
          <a:solidFill>
            <a:srgbClr val="0A102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4712" y="4681728"/>
            <a:ext cx="2880360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rPr dirty="0"/>
              <a:t>• TEAM MEMBER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rPr sz="1200" dirty="0"/>
              <a:t>TANVI CHIB</a:t>
            </a:r>
          </a:p>
          <a:p>
            <a:pPr>
              <a:spcBef>
                <a:spcPts val="300"/>
              </a:spcBef>
              <a:defRPr sz="880">
                <a:solidFill>
                  <a:srgbClr val="CBD5E1"/>
                </a:solidFill>
              </a:defRPr>
            </a:pPr>
            <a:r>
              <a:rPr sz="1200" dirty="0" smtClean="0"/>
              <a:t>Roll</a:t>
            </a:r>
            <a:r>
              <a:rPr lang="en-IN" sz="1200" dirty="0" smtClean="0"/>
              <a:t> no</a:t>
            </a:r>
            <a:r>
              <a:rPr sz="1200" dirty="0" smtClean="0"/>
              <a:t>: </a:t>
            </a:r>
            <a:r>
              <a:rPr sz="1200" dirty="0"/>
              <a:t>ET24BTCO206 | Computer Engineering</a:t>
            </a:r>
            <a:br>
              <a:rPr sz="1200" dirty="0"/>
            </a:br>
            <a:r>
              <a:rPr sz="1200" dirty="0" err="1"/>
              <a:t>Sarvajanik</a:t>
            </a:r>
            <a:r>
              <a:rPr sz="1200" dirty="0"/>
              <a:t> College of </a:t>
            </a:r>
            <a:r>
              <a:rPr sz="1200" dirty="0" err="1"/>
              <a:t>Engg</a:t>
            </a:r>
            <a:r>
              <a:rPr sz="1200" dirty="0"/>
              <a:t>. &amp; Tech. (SCET), Surat</a:t>
            </a:r>
            <a:br>
              <a:rPr sz="1200" dirty="0"/>
            </a:br>
            <a:r>
              <a:rPr sz="1200" dirty="0"/>
              <a:t>Email: tanvichib.co24d3@scet.ac.in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572000"/>
            <a:ext cx="3200400" cy="1508760"/>
          </a:xfrm>
          <a:prstGeom prst="roundRect">
            <a:avLst/>
          </a:prstGeom>
          <a:solidFill>
            <a:srgbClr val="0A102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4681728"/>
            <a:ext cx="2880360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rPr dirty="0"/>
              <a:t>• TEAM MEMBER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rPr sz="1200" dirty="0"/>
              <a:t>JOGI PRANAV BHARAT</a:t>
            </a:r>
          </a:p>
          <a:p>
            <a:pPr>
              <a:spcBef>
                <a:spcPts val="300"/>
              </a:spcBef>
              <a:defRPr sz="880">
                <a:solidFill>
                  <a:srgbClr val="CBD5E1"/>
                </a:solidFill>
              </a:defRPr>
            </a:pPr>
            <a:r>
              <a:rPr sz="1200" dirty="0" smtClean="0"/>
              <a:t>Roll</a:t>
            </a:r>
            <a:r>
              <a:rPr lang="en-IN" sz="1200" dirty="0" smtClean="0"/>
              <a:t> no</a:t>
            </a:r>
            <a:r>
              <a:rPr sz="1200" dirty="0" smtClean="0"/>
              <a:t>: </a:t>
            </a:r>
            <a:r>
              <a:rPr sz="1200" dirty="0"/>
              <a:t>250763107012 | Computer Engineering</a:t>
            </a:r>
            <a:br>
              <a:rPr sz="1200" dirty="0"/>
            </a:br>
            <a:r>
              <a:rPr sz="1200" dirty="0"/>
              <a:t>Shree Swami </a:t>
            </a:r>
            <a:r>
              <a:rPr sz="1200" dirty="0" err="1"/>
              <a:t>Atmanand</a:t>
            </a:r>
            <a:r>
              <a:rPr sz="1200" dirty="0"/>
              <a:t> </a:t>
            </a:r>
            <a:r>
              <a:rPr sz="1200" dirty="0" err="1"/>
              <a:t>Saraswati</a:t>
            </a:r>
            <a:r>
              <a:rPr sz="1200" dirty="0"/>
              <a:t> Inst. (SSASIT), Surat</a:t>
            </a:r>
            <a:br>
              <a:rPr sz="1200" dirty="0"/>
            </a:br>
            <a:r>
              <a:rPr sz="1200" dirty="0"/>
              <a:t>Email: pranavjogi205@gmail.com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9004" y="2208497"/>
            <a:ext cx="3685032" cy="41797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2330899"/>
            <a:ext cx="3108960" cy="3960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rPr sz="1200" dirty="0">
                <a:solidFill>
                  <a:srgbClr val="FF0000"/>
                </a:solidFill>
              </a:rPr>
              <a:t>PROTOTYPE DEMO &amp; </a:t>
            </a:r>
            <a:r>
              <a:rPr sz="1200" dirty="0" smtClean="0">
                <a:solidFill>
                  <a:srgbClr val="FF0000"/>
                </a:solidFill>
              </a:rPr>
              <a:t>CODEBASE</a:t>
            </a:r>
            <a:endParaRPr lang="en-IN" sz="1200" dirty="0" smtClean="0">
              <a:solidFill>
                <a:srgbClr val="FF0000"/>
              </a:solidFill>
            </a:endParaRPr>
          </a:p>
          <a:p>
            <a:pPr>
              <a:defRPr sz="1150" b="1">
                <a:solidFill>
                  <a:srgbClr val="10B981"/>
                </a:solidFill>
              </a:defRPr>
            </a:pPr>
            <a:endParaRPr lang="en-IN" sz="1200" dirty="0" smtClean="0"/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rPr lang="en-IN" sz="1200" dirty="0">
                <a:hlinkClick r:id="rId3"/>
              </a:rPr>
              <a:t>https://yashbadgujar15.github.io/NavaSankalp-PravasiShram-AI/</a:t>
            </a:r>
            <a:endParaRPr sz="1200" dirty="0"/>
          </a:p>
          <a:p>
            <a:pPr>
              <a:spcBef>
                <a:spcPts val="1000"/>
              </a:spcBef>
              <a:defRPr sz="1050" b="1">
                <a:solidFill>
                  <a:srgbClr val="FFFFFF"/>
                </a:solidFill>
              </a:defRPr>
            </a:pPr>
            <a:r>
              <a:rPr sz="1200" dirty="0">
                <a:solidFill>
                  <a:srgbClr val="FF0000"/>
                </a:solidFill>
              </a:rPr>
              <a:t>🌐 LIVE WORKING PROTOTYPE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</a:defRPr>
            </a:pPr>
            <a:r>
              <a:rPr sz="1200" dirty="0" smtClean="0">
                <a:solidFill>
                  <a:srgbClr val="002060"/>
                </a:solidFill>
              </a:rPr>
              <a:t>• </a:t>
            </a:r>
            <a:r>
              <a:rPr sz="1200" dirty="0">
                <a:solidFill>
                  <a:srgbClr val="002060"/>
                </a:solidFill>
              </a:rPr>
              <a:t>Live Speech-to-Intent AI Engine</a:t>
            </a:r>
            <a:br>
              <a:rPr sz="1200" dirty="0">
                <a:solidFill>
                  <a:srgbClr val="002060"/>
                </a:solidFill>
              </a:rPr>
            </a:br>
            <a:r>
              <a:rPr sz="1200" dirty="0">
                <a:solidFill>
                  <a:srgbClr val="002060"/>
                </a:solidFill>
              </a:rPr>
              <a:t>• Dynamic Vector India Migration Map</a:t>
            </a:r>
            <a:br>
              <a:rPr sz="1200" dirty="0">
                <a:solidFill>
                  <a:srgbClr val="002060"/>
                </a:solidFill>
              </a:rPr>
            </a:br>
            <a:r>
              <a:rPr sz="1200" dirty="0">
                <a:solidFill>
                  <a:srgbClr val="002060"/>
                </a:solidFill>
              </a:rPr>
              <a:t>• What-if Surge Scenario Simulator</a:t>
            </a:r>
            <a:br>
              <a:rPr sz="1200" dirty="0">
                <a:solidFill>
                  <a:srgbClr val="002060"/>
                </a:solidFill>
              </a:rPr>
            </a:br>
            <a:r>
              <a:rPr sz="1200" dirty="0">
                <a:solidFill>
                  <a:srgbClr val="002060"/>
                </a:solidFill>
              </a:rPr>
              <a:t>• 7-Stage Guided Journey Walkthrough</a:t>
            </a: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r>
              <a:rPr sz="1200" dirty="0">
                <a:solidFill>
                  <a:srgbClr val="FF0000"/>
                </a:solidFill>
              </a:rPr>
              <a:t>💻 OFFICIAL GITHUB </a:t>
            </a:r>
            <a:r>
              <a:rPr sz="1200" dirty="0" smtClean="0">
                <a:solidFill>
                  <a:srgbClr val="FF0000"/>
                </a:solidFill>
              </a:rPr>
              <a:t>REPOSITORY</a:t>
            </a:r>
            <a:endParaRPr lang="en-IN" sz="1200" dirty="0" smtClean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r>
              <a:rPr lang="en-IN" sz="1200" dirty="0">
                <a:hlinkClick r:id="rId4"/>
              </a:rPr>
              <a:t>https://github.com/YashBadgujar15/NavaSankalp-PravasiShram-AI#-</a:t>
            </a:r>
            <a:r>
              <a:rPr lang="en-IN" sz="1200" dirty="0" smtClean="0">
                <a:hlinkClick r:id="rId4"/>
              </a:rPr>
              <a:t>pravasishram-ai</a:t>
            </a:r>
            <a:endParaRPr lang="en-IN" sz="1200" dirty="0"/>
          </a:p>
          <a:p>
            <a:pPr>
              <a:spcBef>
                <a:spcPts val="1200"/>
              </a:spcBef>
              <a:defRPr sz="1050" b="1">
                <a:solidFill>
                  <a:srgbClr val="FFFFFF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</a:defRPr>
            </a:pPr>
            <a:r>
              <a:rPr sz="1200" dirty="0" smtClean="0">
                <a:solidFill>
                  <a:srgbClr val="002060"/>
                </a:solidFill>
              </a:rPr>
              <a:t>• </a:t>
            </a:r>
            <a:r>
              <a:rPr sz="1200" dirty="0">
                <a:solidFill>
                  <a:srgbClr val="002060"/>
                </a:solidFill>
              </a:rPr>
              <a:t>Complete Codebase, Test Suites &amp; Docs</a:t>
            </a:r>
            <a:br>
              <a:rPr sz="1200" dirty="0">
                <a:solidFill>
                  <a:srgbClr val="002060"/>
                </a:solidFill>
              </a:rPr>
            </a:br>
            <a:r>
              <a:rPr sz="1200" dirty="0">
                <a:solidFill>
                  <a:srgbClr val="002060"/>
                </a:solidFill>
              </a:rPr>
              <a:t>• Automated 75/75 Regression Test Suite</a:t>
            </a:r>
          </a:p>
          <a:p>
            <a:pPr algn="ctr">
              <a:spcBef>
                <a:spcPts val="1200"/>
              </a:spcBef>
              <a:defRPr sz="880" b="1">
                <a:solidFill>
                  <a:srgbClr val="34D399"/>
                </a:solidFill>
              </a:defRPr>
            </a:pPr>
            <a:r>
              <a:rPr sz="1200" dirty="0">
                <a:solidFill>
                  <a:srgbClr val="FF0000"/>
                </a:solidFill>
              </a:rPr>
              <a:t>🛡️ 100% DPDP Act 2023 Compliant</a:t>
            </a:r>
            <a:br>
              <a:rPr sz="1200" dirty="0">
                <a:solidFill>
                  <a:srgbClr val="FF0000"/>
                </a:solidFill>
              </a:rPr>
            </a:br>
            <a:r>
              <a:rPr sz="1200" dirty="0">
                <a:solidFill>
                  <a:srgbClr val="FF0000"/>
                </a:solidFill>
              </a:rPr>
              <a:t>Zero Continuous Personal Surveillance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375277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rPr dirty="0"/>
              <a:t>★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Executive Summary: Transforming Interstate Migrant Welfare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Solving the national conflict between worker privacy and destination welfare capacity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78608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2249424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97316"/>
                </a:solidFill>
              </a:defRPr>
            </a:pPr>
            <a:r>
              <a:rPr sz="1400" dirty="0"/>
              <a:t>450 MILLION+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rPr sz="1400" dirty="0"/>
              <a:t>Domestic Migrants in India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</a:defRPr>
            </a:pPr>
            <a:r>
              <a:rPr sz="1400" dirty="0"/>
              <a:t>Critical economic backbone in textile, construction &amp; agriculture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78608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1024" y="1810512"/>
            <a:ext cx="2249424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rPr sz="1400" dirty="0"/>
              <a:t>30 SECONDS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rPr sz="1400" dirty="0"/>
              <a:t>Voluntary Check-in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</a:defRPr>
            </a:pPr>
            <a:r>
              <a:rPr sz="1400" dirty="0"/>
              <a:t>Zero paperwork; speech-to-intent in 5+ vernacular regional 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78608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5936" y="1810512"/>
            <a:ext cx="2249424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rPr sz="1400" dirty="0"/>
              <a:t>ZERO GPS DRAIN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rPr sz="1400" dirty="0"/>
              <a:t>Battery &amp; Data Preserved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</a:defRPr>
            </a:pPr>
            <a:r>
              <a:rPr sz="1400" dirty="0"/>
              <a:t>No background location polling; works on low-cost feature devices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78608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70848" y="1810512"/>
            <a:ext cx="2249424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366F1"/>
                </a:solidFill>
              </a:defRPr>
            </a:pPr>
            <a:r>
              <a:rPr sz="1400" dirty="0"/>
              <a:t>100% DPDP 2023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rPr sz="1400" dirty="0"/>
              <a:t>Statutory Privacy Vault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</a:defRPr>
            </a:pPr>
            <a:r>
              <a:rPr sz="1400" dirty="0"/>
              <a:t>Purpose limited, disassociated identity, and automatic 90-day TTL expiry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5257800" cy="297180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4800600" cy="1877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97316"/>
                </a:solidFill>
              </a:defRPr>
            </a:pPr>
            <a:r>
              <a:rPr sz="1400" dirty="0"/>
              <a:t>THE NATIONAL LABOUR CHALLENGE</a:t>
            </a:r>
          </a:p>
          <a:p>
            <a:pPr>
              <a:spcBef>
                <a:spcPts val="600"/>
              </a:spcBef>
              <a:defRPr sz="1019">
                <a:solidFill>
                  <a:srgbClr val="CBD5E1"/>
                </a:solidFill>
              </a:defRPr>
            </a:pPr>
            <a:r>
              <a:rPr sz="1400" dirty="0"/>
              <a:t>While </a:t>
            </a:r>
            <a:r>
              <a:rPr sz="1400" dirty="0" err="1"/>
              <a:t>eShram</a:t>
            </a:r>
            <a:r>
              <a:rPr sz="1400" dirty="0"/>
              <a:t> successfully registered 30+ crore </a:t>
            </a:r>
            <a:r>
              <a:rPr sz="1400" dirty="0" err="1"/>
              <a:t>unorganised</a:t>
            </a:r>
            <a:r>
              <a:rPr sz="1400" dirty="0"/>
              <a:t> workers, it captures static domicile data. When workers migrate across State borders, </a:t>
            </a:r>
            <a:r>
              <a:rPr sz="1400" dirty="0" err="1"/>
              <a:t>labour</a:t>
            </a:r>
            <a:r>
              <a:rPr sz="1400" dirty="0"/>
              <a:t> departments face a complete information blackout.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rPr sz="1400" dirty="0"/>
              <a:t>Destination States (Gujarat, Maharashtra, Karnataka) face severe shortages in portable PDS rations, emergency healthcare, and transit crèches during seasonal surges.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301302"/>
            <a:ext cx="5367528" cy="304431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hramik_voice_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188" y="3501724"/>
            <a:ext cx="4702688" cy="26247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26330" y="6345617"/>
            <a:ext cx="320440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dirty="0" smtClean="0"/>
              <a:t>[</a:t>
            </a:r>
            <a:r>
              <a:rPr dirty="0"/>
              <a:t>EMPOWERMENT: Surat Textile Worker Using Vernacular Voice AI]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FIELD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Ground Realities: Why Traditional Tracking Fails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Four systemic bottlenecks preventing effective migrant worker tracking across interstate corridors.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92808"/>
            <a:ext cx="4800600" cy="1395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43F5E"/>
                </a:solidFill>
              </a:defRPr>
            </a:pPr>
            <a:r>
              <a:rPr sz="1400" dirty="0"/>
              <a:t>1. SURVEILLANCE RESISTANCE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rPr sz="1400" dirty="0"/>
              <a:t>Migrant workers actively reject constant GPS tracking. Fear of employer wage deductions, police harassment, and family surveillance causes 92% of continuous location apps to be uninstalled within 2 weeks. Any viable solution MUST be episodic and consented.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92808"/>
            <a:ext cx="4800600" cy="1179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rPr sz="1400" dirty="0"/>
              <a:t>2. DIGITAL &amp; LINGUISTIC DIVIDE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rPr sz="1400" dirty="0"/>
              <a:t>Over 68% of informal construction and textile workers struggle with multi-step bureaucratic portal forms. English/complex Hindi portals force workers to rely on corrupt middlemen or abandon digital registration entirely.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178807"/>
            <a:ext cx="4800600" cy="1179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97316"/>
                </a:solidFill>
              </a:defRPr>
            </a:pPr>
            <a:r>
              <a:rPr sz="1400" dirty="0"/>
              <a:t>3. WELFARE PORTABILITY LAG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rPr sz="1400" dirty="0"/>
              <a:t>When 15,000 textile workers move from Patna to Surat post-</a:t>
            </a:r>
            <a:r>
              <a:rPr sz="1400" dirty="0" err="1"/>
              <a:t>Chhath</a:t>
            </a:r>
            <a:r>
              <a:rPr sz="1400" dirty="0"/>
              <a:t> Puja, Surat </a:t>
            </a:r>
            <a:r>
              <a:rPr sz="1400" dirty="0" err="1"/>
              <a:t>labour</a:t>
            </a:r>
            <a:r>
              <a:rPr sz="1400" dirty="0"/>
              <a:t> officers have zero advance notice. One Nation One Ration Card (ONORC) Fair Price Shops run dry, creating preventable humanitarian distress.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178807"/>
            <a:ext cx="4800600" cy="1179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6366F1"/>
                </a:solidFill>
              </a:defRPr>
            </a:pPr>
            <a:r>
              <a:rPr sz="1400" dirty="0"/>
              <a:t>4. REACTIVE CRISIS GOVERNANCE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rPr sz="1400" dirty="0"/>
              <a:t>Current governance relies on static decennial Census data or post-calamity emergency relief. Governments scramble to arrange shelters and healthcare after crises happen, rather than pre-positioning resources proactively.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Paradigm Shift: Continuous Surveillance vs Consented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How PravasiShram AI resolves the dilemma between worker privacy and state welfare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62484"/>
            <a:ext cx="4663440" cy="2882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43F5E"/>
                </a:solidFill>
              </a:defRPr>
            </a:pPr>
            <a:r>
              <a:rPr sz="1400" dirty="0"/>
              <a:t>❌ TRADITIONAL 24/7 TRACKING (FLAWED)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Tracking Philosophy: </a:t>
            </a:r>
            <a:r>
              <a:rPr sz="1400" b="0" dirty="0">
                <a:solidFill>
                  <a:srgbClr val="CBD5E1"/>
                </a:solidFill>
              </a:rPr>
              <a:t>Tracks the physical individual 24 hours a day, logging non-migration personal life.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Battery &amp; Mobile Data: </a:t>
            </a:r>
            <a:r>
              <a:rPr sz="1400" b="0" dirty="0">
                <a:solidFill>
                  <a:srgbClr val="CBD5E1"/>
                </a:solidFill>
              </a:rPr>
              <a:t>Continuous GPS background polling drains cheap phone batteries in under 4 hours.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Worker Trust &amp; Compliance: </a:t>
            </a:r>
            <a:r>
              <a:rPr sz="1400" b="0" dirty="0">
                <a:solidFill>
                  <a:srgbClr val="CBD5E1"/>
                </a:solidFill>
              </a:rPr>
              <a:t>Massive fear of police/employer surveillance leads to phone switching or app deletion.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DPDP Act 2023 Standing: </a:t>
            </a:r>
            <a:r>
              <a:rPr sz="1400" b="0" dirty="0">
                <a:solidFill>
                  <a:srgbClr val="CBD5E1"/>
                </a:solidFill>
              </a:rPr>
              <a:t>Blatantly violates Data </a:t>
            </a:r>
            <a:r>
              <a:rPr sz="1400" b="0" dirty="0" err="1">
                <a:solidFill>
                  <a:srgbClr val="CBD5E1"/>
                </a:solidFill>
              </a:rPr>
              <a:t>Minimisation</a:t>
            </a:r>
            <a:r>
              <a:rPr sz="1400" b="0" dirty="0">
                <a:solidFill>
                  <a:srgbClr val="CBD5E1"/>
                </a:solidFill>
              </a:rPr>
              <a:t> (Sec 6) and Purpose Limitation (Sec 5).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Data Storage Liability: </a:t>
            </a:r>
            <a:r>
              <a:rPr sz="1400" b="0" dirty="0">
                <a:solidFill>
                  <a:srgbClr val="CBD5E1"/>
                </a:solidFill>
              </a:rPr>
              <a:t>Stores millions of personal location breadcrumbs, creating a honeypot for catastrophic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39512" cy="4480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346222"/>
            <a:ext cx="4782312" cy="2882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rPr sz="1400" dirty="0"/>
              <a:t>✔ PRAVASISHRAM AI (OUR INNOVATION)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Tracking Philosophy: </a:t>
            </a:r>
            <a:r>
              <a:rPr sz="1400" b="0" dirty="0">
                <a:solidFill>
                  <a:srgbClr val="CBD5E1"/>
                </a:solidFill>
              </a:rPr>
              <a:t>Logs only the episodic transit event upon arrival (e.g. Patna ➔ Surat, Textile).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Battery &amp; Mobile Data: </a:t>
            </a:r>
            <a:r>
              <a:rPr sz="1400" b="0" dirty="0">
                <a:solidFill>
                  <a:srgbClr val="CBD5E1"/>
                </a:solidFill>
              </a:rPr>
              <a:t>Zero background polling. Single lightweight HTTP payload (&lt; 2 KB) during check-in.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Worker Trust &amp; Compliance: </a:t>
            </a:r>
            <a:r>
              <a:rPr sz="1400" b="0" dirty="0">
                <a:solidFill>
                  <a:srgbClr val="CBD5E1"/>
                </a:solidFill>
              </a:rPr>
              <a:t>Voluntary check-in with instant consent withdrawal toggle builds authentic grassroots trust.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DPDP Act 2023 Standing: </a:t>
            </a:r>
            <a:r>
              <a:rPr sz="1400" b="0" dirty="0">
                <a:solidFill>
                  <a:srgbClr val="CBD5E1"/>
                </a:solidFill>
              </a:rPr>
              <a:t>100% compliant: Purpose-limited to welfare buffering, identity disassociated, and 90-day TTL.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Administrative Output: </a:t>
            </a:r>
            <a:r>
              <a:rPr sz="1400" b="0" dirty="0">
                <a:solidFill>
                  <a:srgbClr val="CBD5E1"/>
                </a:solidFill>
              </a:rPr>
              <a:t>Feeds macro corridor intelligence models without holding permanent personal dossiers.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End-to-End System Workflow: Ingestion to Welfare Desks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A 5-tier scalable architecture bridging informal worker vernaculars to state administrative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65960"/>
            <a:ext cx="1737360" cy="1682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rPr sz="1600" dirty="0"/>
              <a:t>TIER 1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</a:defRPr>
            </a:pPr>
            <a:r>
              <a:rPr sz="1600" dirty="0"/>
              <a:t>1. INGESTION</a:t>
            </a:r>
          </a:p>
          <a:p>
            <a:pPr>
              <a:spcBef>
                <a:spcPts val="1200"/>
              </a:spcBef>
              <a:defRPr sz="980">
                <a:solidFill>
                  <a:srgbClr val="CBD5E1"/>
                </a:solidFill>
              </a:defRPr>
            </a:pPr>
            <a:r>
              <a:rPr sz="1600" dirty="0"/>
              <a:t>• Web Speech API</a:t>
            </a:r>
            <a:br>
              <a:rPr sz="1600" dirty="0"/>
            </a:br>
            <a:r>
              <a:rPr sz="1600" dirty="0"/>
              <a:t>• CSC Assisted Kiosk</a:t>
            </a:r>
            <a:br>
              <a:rPr sz="1600" dirty="0"/>
            </a:br>
            <a:r>
              <a:rPr sz="1600" dirty="0"/>
              <a:t>• Missed-call IVR</a:t>
            </a:r>
            <a:br>
              <a:rPr sz="1600" dirty="0"/>
            </a:br>
            <a:r>
              <a:rPr sz="1600" dirty="0"/>
              <a:t>• SMS Keywords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73736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72383" y="1965960"/>
            <a:ext cx="1737360" cy="19287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sz="1600" dirty="0"/>
              <a:t>TIER 2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</a:defRPr>
            </a:pPr>
            <a:r>
              <a:rPr sz="1600" dirty="0"/>
              <a:t>2. SPEECH NLP</a:t>
            </a:r>
          </a:p>
          <a:p>
            <a:pPr>
              <a:spcBef>
                <a:spcPts val="1200"/>
              </a:spcBef>
              <a:defRPr sz="980">
                <a:solidFill>
                  <a:srgbClr val="CBD5E1"/>
                </a:solidFill>
              </a:defRPr>
            </a:pPr>
            <a:r>
              <a:rPr sz="1600" dirty="0"/>
              <a:t>• Vernacular parser</a:t>
            </a:r>
            <a:br>
              <a:rPr sz="1600" dirty="0"/>
            </a:br>
            <a:r>
              <a:rPr sz="1600" dirty="0"/>
              <a:t>• Hindi/</a:t>
            </a:r>
            <a:r>
              <a:rPr sz="1600" dirty="0" err="1"/>
              <a:t>Guj</a:t>
            </a:r>
            <a:r>
              <a:rPr sz="1600" dirty="0"/>
              <a:t>/</a:t>
            </a:r>
            <a:r>
              <a:rPr sz="1600" dirty="0" err="1"/>
              <a:t>Mr</a:t>
            </a:r>
            <a:r>
              <a:rPr sz="1600" dirty="0"/>
              <a:t>/</a:t>
            </a:r>
            <a:r>
              <a:rPr sz="1600" dirty="0" err="1"/>
              <a:t>Bn</a:t>
            </a:r>
            <a:r>
              <a:rPr sz="1600" dirty="0"/>
              <a:t>/</a:t>
            </a:r>
            <a:r>
              <a:rPr sz="1600" dirty="0" err="1"/>
              <a:t>En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• Entity extraction</a:t>
            </a:r>
            <a:br>
              <a:rPr sz="1600" dirty="0"/>
            </a:br>
            <a:r>
              <a:rPr sz="1600" dirty="0"/>
              <a:t>• Zero form fatigue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73736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48656" y="1965960"/>
            <a:ext cx="1737360" cy="19287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rPr sz="1600" dirty="0"/>
              <a:t>TIER 3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</a:defRPr>
            </a:pPr>
            <a:r>
              <a:rPr sz="1600" dirty="0"/>
              <a:t>3. PRIVACY VAULT</a:t>
            </a:r>
          </a:p>
          <a:p>
            <a:pPr>
              <a:spcBef>
                <a:spcPts val="1200"/>
              </a:spcBef>
              <a:defRPr sz="980">
                <a:solidFill>
                  <a:srgbClr val="CBD5E1"/>
                </a:solidFill>
              </a:defRPr>
            </a:pPr>
            <a:r>
              <a:rPr sz="1600" dirty="0"/>
              <a:t>• PII stripping</a:t>
            </a:r>
            <a:br>
              <a:rPr sz="1600" dirty="0"/>
            </a:br>
            <a:r>
              <a:rPr sz="1600" dirty="0"/>
              <a:t>• Ephemeral tokens</a:t>
            </a:r>
            <a:br>
              <a:rPr sz="1600" dirty="0"/>
            </a:br>
            <a:r>
              <a:rPr sz="1600" dirty="0"/>
              <a:t>• Revocable consent</a:t>
            </a:r>
            <a:br>
              <a:rPr sz="1600" dirty="0"/>
            </a:br>
            <a:r>
              <a:rPr sz="1600" dirty="0"/>
              <a:t>• 90-day TTL auto-purge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3736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4928" y="1965960"/>
            <a:ext cx="1737360" cy="26673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rPr sz="1600" dirty="0"/>
              <a:t>TIER 4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</a:defRPr>
            </a:pPr>
            <a:r>
              <a:rPr sz="1600" dirty="0"/>
              <a:t>4. CORRIDOR ENGINE</a:t>
            </a:r>
          </a:p>
          <a:p>
            <a:pPr>
              <a:spcBef>
                <a:spcPts val="1200"/>
              </a:spcBef>
              <a:defRPr sz="980">
                <a:solidFill>
                  <a:srgbClr val="CBD5E1"/>
                </a:solidFill>
              </a:defRPr>
            </a:pPr>
            <a:r>
              <a:rPr sz="1600" dirty="0"/>
              <a:t>• Graph flow mapping</a:t>
            </a:r>
            <a:br>
              <a:rPr sz="1600" dirty="0"/>
            </a:br>
            <a:r>
              <a:rPr sz="1600" dirty="0"/>
              <a:t>• 6-Month forecasting</a:t>
            </a:r>
            <a:br>
              <a:rPr sz="1600" dirty="0"/>
            </a:br>
            <a:r>
              <a:rPr sz="1600" dirty="0"/>
              <a:t>• Seasonal surge alert</a:t>
            </a:r>
            <a:br>
              <a:rPr sz="1600" dirty="0"/>
            </a:br>
            <a:r>
              <a:rPr sz="1600" dirty="0"/>
              <a:t>• Drift detection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737360"/>
            <a:ext cx="20574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1737360" cy="21749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B923C"/>
                </a:solidFill>
              </a:defRPr>
            </a:pPr>
            <a:r>
              <a:rPr sz="1600" dirty="0"/>
              <a:t>TIER 5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</a:defRPr>
            </a:pPr>
            <a:r>
              <a:rPr sz="1600" dirty="0"/>
              <a:t>5. MOLE ACTION</a:t>
            </a:r>
          </a:p>
          <a:p>
            <a:pPr>
              <a:spcBef>
                <a:spcPts val="1200"/>
              </a:spcBef>
              <a:defRPr sz="980">
                <a:solidFill>
                  <a:srgbClr val="CBD5E1"/>
                </a:solidFill>
              </a:defRPr>
            </a:pPr>
            <a:r>
              <a:rPr sz="1600" dirty="0"/>
              <a:t>• ONORC grain buffering</a:t>
            </a:r>
            <a:br>
              <a:rPr sz="1600" dirty="0"/>
            </a:br>
            <a:r>
              <a:rPr sz="1600" dirty="0"/>
              <a:t>• Mobile ESIC clinics</a:t>
            </a:r>
            <a:br>
              <a:rPr sz="1600" dirty="0"/>
            </a:br>
            <a:r>
              <a:rPr sz="1600" dirty="0"/>
              <a:t>• Inter-state </a:t>
            </a:r>
            <a:r>
              <a:rPr sz="1600" dirty="0" err="1"/>
              <a:t>labour</a:t>
            </a:r>
            <a:r>
              <a:rPr sz="1600" dirty="0"/>
              <a:t> memo</a:t>
            </a:r>
            <a:br>
              <a:rPr sz="1600" dirty="0"/>
            </a:br>
            <a:r>
              <a:rPr sz="1600" dirty="0"/>
              <a:t>• What-if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WORKER EXPERIENCE (UX)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Worker Check-in: 30-Second Voice-Driven Simplicity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Eliminating form barriers through natural vernacular speech and real-time intent extraction.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142" y="1647786"/>
            <a:ext cx="5303520" cy="448056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1742" y="1995716"/>
            <a:ext cx="4846320" cy="3616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rPr sz="1400" dirty="0"/>
              <a:t>ZERO-FRICTION VERNACULAR CHECK-IN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One-Tap Vernacular Speech: </a:t>
            </a:r>
            <a:r>
              <a:rPr sz="1400" b="0" dirty="0">
                <a:solidFill>
                  <a:srgbClr val="CBD5E1"/>
                </a:solidFill>
              </a:rPr>
              <a:t>Worker speaks naturally: 'Main Patna se Surat textile </a:t>
            </a:r>
            <a:r>
              <a:rPr sz="1400" b="0" dirty="0" err="1">
                <a:solidFill>
                  <a:srgbClr val="CBD5E1"/>
                </a:solidFill>
              </a:rPr>
              <a:t>kaam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ke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liye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aaya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hoon</a:t>
            </a:r>
            <a:r>
              <a:rPr sz="1400" b="0" dirty="0">
                <a:solidFill>
                  <a:srgbClr val="CBD5E1"/>
                </a:solidFill>
              </a:rPr>
              <a:t>' or Hindi Devanagari: '</a:t>
            </a:r>
            <a:r>
              <a:rPr sz="1400" b="0" dirty="0" err="1">
                <a:solidFill>
                  <a:srgbClr val="CBD5E1"/>
                </a:solidFill>
              </a:rPr>
              <a:t>मैं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मुंबई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से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सूरत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आया</a:t>
            </a:r>
            <a:r>
              <a:rPr sz="1400" b="0" dirty="0">
                <a:solidFill>
                  <a:srgbClr val="CBD5E1"/>
                </a:solidFill>
              </a:rPr>
              <a:t> </a:t>
            </a:r>
            <a:r>
              <a:rPr sz="1400" b="0" dirty="0" err="1">
                <a:solidFill>
                  <a:srgbClr val="CBD5E1"/>
                </a:solidFill>
              </a:rPr>
              <a:t>हूँ</a:t>
            </a:r>
            <a:r>
              <a:rPr sz="1400" b="0" dirty="0">
                <a:solidFill>
                  <a:srgbClr val="CBD5E1"/>
                </a:solidFill>
              </a:rPr>
              <a:t>'.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4-Step Visual Progress Stepper: </a:t>
            </a:r>
            <a:r>
              <a:rPr sz="1400" b="0" dirty="0">
                <a:solidFill>
                  <a:srgbClr val="CBD5E1"/>
                </a:solidFill>
              </a:rPr>
              <a:t>Real-time state transitions: 1. Listening ➔ 2. Understanding ➔ 3. Protecting ➔ 4. Ready. Workers see privacy protections in real time.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Multilingual Entity Extraction: </a:t>
            </a:r>
            <a:r>
              <a:rPr sz="1400" b="0" dirty="0">
                <a:solidFill>
                  <a:srgbClr val="CBD5E1"/>
                </a:solidFill>
              </a:rPr>
              <a:t>Auto-resolves: Origin City, Destination Hub, Work Sector, and Migration Type without filling lengthy paperwork.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Full Worker Verification: </a:t>
            </a:r>
            <a:r>
              <a:rPr sz="1400" b="0" dirty="0">
                <a:solidFill>
                  <a:srgbClr val="CBD5E1"/>
                </a:solidFill>
              </a:rPr>
              <a:t>Extracted fields remain 100% editable. The worker confirms their details before one-click voluntary submission.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Low-Tech Fallback Support: </a:t>
            </a:r>
            <a:r>
              <a:rPr sz="1400" b="0" dirty="0">
                <a:solidFill>
                  <a:srgbClr val="CBD5E1"/>
                </a:solidFill>
              </a:rPr>
              <a:t>Works via Railway Station CSC kiosks, missed-call IVR, and SMS for workers without smartphones.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0865" y="5665065"/>
            <a:ext cx="3853619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dirty="0" smtClean="0"/>
              <a:t>[</a:t>
            </a: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dirty="0" smtClean="0"/>
              <a:t>ACTUAL </a:t>
            </a:r>
            <a:r>
              <a:rPr dirty="0"/>
              <a:t>PROTOTYPE: Worker Voice Check-in Phone Mockup &amp; Entity Extraction]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13398" r="7513"/>
          <a:stretch/>
        </p:blipFill>
        <p:spPr>
          <a:xfrm>
            <a:off x="6262963" y="1536753"/>
            <a:ext cx="5561045" cy="4376684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31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GOVERNANCE &amp; LEGAL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Privacy-by-Design: Full DPDP Act 2023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Embedding constitutional dignity and statutory data protection into the fundamental software layer.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03520" cy="448056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6418" y="2016011"/>
            <a:ext cx="4846320" cy="38318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rPr sz="1400" dirty="0"/>
              <a:t>STATUTORY DATA PROTECTION SAFEGUARDS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Purpose Limitation (Section 5): </a:t>
            </a:r>
            <a:r>
              <a:rPr sz="1400" b="0" dirty="0">
                <a:solidFill>
                  <a:srgbClr val="CBD5E1"/>
                </a:solidFill>
              </a:rPr>
              <a:t>Check-in data is strictly confined to aggregate welfare buffering and transit crisis response. Commercial or punitive usage is prohibited by software design.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Data </a:t>
            </a:r>
            <a:r>
              <a:rPr sz="1400" dirty="0" err="1"/>
              <a:t>Minimisation</a:t>
            </a:r>
            <a:r>
              <a:rPr sz="1400" dirty="0"/>
              <a:t> (Section 6): </a:t>
            </a:r>
            <a:r>
              <a:rPr sz="1400" b="0" dirty="0">
                <a:solidFill>
                  <a:srgbClr val="CBD5E1"/>
                </a:solidFill>
              </a:rPr>
              <a:t>No continuous GPS coordinate capture. No background telemetry. The system captures only single episodic transit events.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Cryptographic Disassociation: </a:t>
            </a:r>
            <a:r>
              <a:rPr sz="1400" b="0" dirty="0" err="1">
                <a:solidFill>
                  <a:srgbClr val="CBD5E1"/>
                </a:solidFill>
              </a:rPr>
              <a:t>Aadhaar</a:t>
            </a:r>
            <a:r>
              <a:rPr sz="1400" b="0" dirty="0">
                <a:solidFill>
                  <a:srgbClr val="CBD5E1"/>
                </a:solidFill>
              </a:rPr>
              <a:t>, phone number, and name are completely unlinked before transit events enter the corridor calculation engine.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Revocable Consent with 1-Click: </a:t>
            </a:r>
            <a:r>
              <a:rPr sz="1400" b="0" dirty="0">
                <a:solidFill>
                  <a:srgbClr val="CBD5E1"/>
                </a:solidFill>
              </a:rPr>
              <a:t>Workers possess an instant 'Withdraw Consent' toggle. Withdrawing consent immediately marks check-ins inactive and purges future corridor factoring.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90-Day Retention (TTL) Lifecycle: </a:t>
            </a:r>
            <a:r>
              <a:rPr sz="1400" b="0" dirty="0">
                <a:solidFill>
                  <a:srgbClr val="CBD5E1"/>
                </a:solidFill>
              </a:rPr>
              <a:t>Transit events have an automatic 90-day expiry. No permanent historical tracking logs remain stored on servers.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819" y="5624131"/>
            <a:ext cx="3263714" cy="4154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dirty="0" smtClean="0"/>
              <a:t>[</a:t>
            </a:r>
            <a:r>
              <a:rPr dirty="0"/>
              <a:t>ACTUAL PROTOTYPE: Granular Consent Center &amp; Revocation Vault]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2235552"/>
            <a:ext cx="5899204" cy="3633178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662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SPATIAL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Migration Intelligence: Dynamic Corridors &amp;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Visualizing macro inter-state worker movements across economic corridors to guide capacity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03520" cy="448056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1500" y="2002136"/>
            <a:ext cx="4846320" cy="38318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sz="1400" dirty="0"/>
              <a:t>AGGREGATE CORRIDOR FLOW ANALYTICS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Dynamic SVG India Spatial Map: </a:t>
            </a:r>
            <a:r>
              <a:rPr sz="1400" b="0" dirty="0">
                <a:solidFill>
                  <a:srgbClr val="CBD5E1"/>
                </a:solidFill>
              </a:rPr>
              <a:t>Vector India map rendering active transit nodes: Patna, Surat, Mumbai, Lucknow, Hyderabad, Bengaluru, Kolkata.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Directional Bezier Particle Flow: </a:t>
            </a:r>
            <a:r>
              <a:rPr sz="1400" b="0" dirty="0">
                <a:solidFill>
                  <a:srgbClr val="CBD5E1"/>
                </a:solidFill>
              </a:rPr>
              <a:t>Animated curved lines showing real-time corridor intensity, transit volume, and seasonal migration flow directions.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Multi-Dimensional Filtering: </a:t>
            </a:r>
            <a:r>
              <a:rPr sz="1400" b="0" dirty="0">
                <a:solidFill>
                  <a:srgbClr val="CBD5E1"/>
                </a:solidFill>
              </a:rPr>
              <a:t>Filter by Origin/Destination State (Bihar, UP, Gujarat, Maharashtra), Sector (Textiles, Construction, Agriculture), and Migration Type.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Interactive Corridor Drawer: </a:t>
            </a:r>
            <a:r>
              <a:rPr sz="1400" b="0" dirty="0">
                <a:solidFill>
                  <a:srgbClr val="CBD5E1"/>
                </a:solidFill>
              </a:rPr>
              <a:t>Clicking any corridor opens deep insights: total transit volume, active industry clusters, transit duration, and surge risk signals.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Destination Cluster Strain Signals: </a:t>
            </a:r>
            <a:r>
              <a:rPr sz="1400" b="0" dirty="0">
                <a:solidFill>
                  <a:srgbClr val="CBD5E1"/>
                </a:solidFill>
              </a:rPr>
              <a:t>Highlights emerging destination bottlenecks (e.g. Surat textile belt, MMR construction zones) for early intervention.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726465"/>
            <a:ext cx="52395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[ACTUAL PROTOTYPE: Interactive Vector India Map &amp; Corridor Particle Flow]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2241268"/>
            <a:ext cx="5900400" cy="3381303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PREDICTIVE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Predictive Forecasting: 6-Month Horizon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Transforming reactive crisis response into proactive welfare preparedness through time-series forecasting.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303520" cy="448056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9271" y="2016011"/>
            <a:ext cx="4846320" cy="38318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rPr sz="1400" dirty="0"/>
              <a:t>EARLY-WARNING CORRIDOR PROJECTIONS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6-Month Time-Series Horizon: </a:t>
            </a:r>
            <a:r>
              <a:rPr sz="1400" b="0" dirty="0">
                <a:solidFill>
                  <a:srgbClr val="CBD5E1"/>
                </a:solidFill>
              </a:rPr>
              <a:t>Observed historical baseline combined with statistical predictive curves and upper/lower confidence bounds.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Seasonal Surge Anticipation: </a:t>
            </a:r>
            <a:r>
              <a:rPr sz="1400" b="0" dirty="0">
                <a:solidFill>
                  <a:srgbClr val="CBD5E1"/>
                </a:solidFill>
              </a:rPr>
              <a:t>Predicts massive seasonal return movements (Post-Diwali, </a:t>
            </a:r>
            <a:r>
              <a:rPr sz="1400" b="0" dirty="0" err="1">
                <a:solidFill>
                  <a:srgbClr val="CBD5E1"/>
                </a:solidFill>
              </a:rPr>
              <a:t>Chhath</a:t>
            </a:r>
            <a:r>
              <a:rPr sz="1400" b="0" dirty="0">
                <a:solidFill>
                  <a:srgbClr val="CBD5E1"/>
                </a:solidFill>
              </a:rPr>
              <a:t> Puja, agricultural harvesting) 2 to 4 weeks before arrival.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Selectable Corridor Projections: </a:t>
            </a:r>
            <a:r>
              <a:rPr sz="1400" b="0" dirty="0">
                <a:solidFill>
                  <a:srgbClr val="CBD5E1"/>
                </a:solidFill>
              </a:rPr>
              <a:t>Interactive models for key corridors: Bihar ➔ Gujarat, UP ➔ Maharashtra, Odisha ➔ Gujarat, and All Corridors aggregate.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ONORC Food Grain Pre-Positioning: </a:t>
            </a:r>
            <a:r>
              <a:rPr sz="1400" b="0" dirty="0">
                <a:solidFill>
                  <a:srgbClr val="CBD5E1"/>
                </a:solidFill>
              </a:rPr>
              <a:t>Notifies State Civil Supplies departments to position portable One Nation One Ration Card grain stocks at destination fair price shops.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Transit Healthcare &amp; Shelter Hubs: </a:t>
            </a:r>
            <a:r>
              <a:rPr sz="1400" b="0" dirty="0">
                <a:solidFill>
                  <a:srgbClr val="CBD5E1"/>
                </a:solidFill>
              </a:rPr>
              <a:t>Enables municipal corporations to deploy mobile ESIC health vans and temporary night shelters before peak worker influx arrives.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4531" y="5624131"/>
            <a:ext cx="3029586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dirty="0" smtClean="0"/>
              <a:t>[ACTUAL PROTOTYPE: 6-Month Time-Series Predictive Horizon]</a:t>
            </a:r>
            <a:endParaRPr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62" y="1508760"/>
            <a:ext cx="4577011" cy="4741179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1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AUTHORITY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MoLE Command Center: Real-Time Planning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Executive dashboard empowering labour administrators with high-level KPIs and actionable planning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553" y="1691640"/>
            <a:ext cx="5303520" cy="448056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8153" y="2113500"/>
            <a:ext cx="4846320" cy="3400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rPr sz="1400" dirty="0"/>
              <a:t>EXECUTIVE MONITORING SUITE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4 High-Level National KPIs: </a:t>
            </a:r>
            <a:r>
              <a:rPr sz="1400" b="0" dirty="0">
                <a:solidFill>
                  <a:srgbClr val="CBD5E1"/>
                </a:solidFill>
              </a:rPr>
              <a:t>Live aggregate tracking: 4,820 Verified Migration Events, 27 Active Corridors, 8 Emerging Corridors, 6 High Activity Regions.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Ranked Density Corridor Table: </a:t>
            </a:r>
            <a:r>
              <a:rPr sz="1400" b="0" dirty="0">
                <a:solidFill>
                  <a:srgbClr val="CBD5E1"/>
                </a:solidFill>
              </a:rPr>
              <a:t>Dynamic ranking showing origin, destination, estimated worker volume, and momentum indicators (+18% </a:t>
            </a:r>
            <a:r>
              <a:rPr sz="1400" b="0" dirty="0" err="1">
                <a:solidFill>
                  <a:srgbClr val="CBD5E1"/>
                </a:solidFill>
              </a:rPr>
              <a:t>MoM</a:t>
            </a:r>
            <a:r>
              <a:rPr sz="1400" b="0" dirty="0">
                <a:solidFill>
                  <a:srgbClr val="CBD5E1"/>
                </a:solidFill>
              </a:rPr>
              <a:t> increase).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Automated AI Planning Signals: </a:t>
            </a:r>
            <a:r>
              <a:rPr sz="1400" b="0" dirty="0">
                <a:solidFill>
                  <a:srgbClr val="CBD5E1"/>
                </a:solidFill>
              </a:rPr>
              <a:t>Intelligent directives (e.g. 'Higher migration activity detected in western industrial corridor; review destination service capacity').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Proactive Resource Allocation: </a:t>
            </a:r>
            <a:r>
              <a:rPr sz="1400" b="0" dirty="0">
                <a:solidFill>
                  <a:srgbClr val="CBD5E1"/>
                </a:solidFill>
              </a:rPr>
              <a:t>Enables inter-state </a:t>
            </a:r>
            <a:r>
              <a:rPr sz="1400" b="0" dirty="0" err="1">
                <a:solidFill>
                  <a:srgbClr val="CBD5E1"/>
                </a:solidFill>
              </a:rPr>
              <a:t>labour</a:t>
            </a:r>
            <a:r>
              <a:rPr sz="1400" b="0" dirty="0">
                <a:solidFill>
                  <a:srgbClr val="CBD5E1"/>
                </a:solidFill>
              </a:rPr>
              <a:t> coordination memos 2 weeks prior to projected arrival.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Zero Personal Surveillance: </a:t>
            </a:r>
            <a:r>
              <a:rPr sz="1400" b="0" dirty="0">
                <a:solidFill>
                  <a:srgbClr val="CBD5E1"/>
                </a:solidFill>
              </a:rPr>
              <a:t>All numbers represent aggregated macro corridor flows with 100% identity disassociation.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8800" y="5726465"/>
            <a:ext cx="3497752" cy="4154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/>
          </a:p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dirty="0" smtClean="0"/>
              <a:t>[</a:t>
            </a:r>
            <a:r>
              <a:rPr dirty="0"/>
              <a:t>ACTUAL PROTOTYPE: Authority Command Center KPIs &amp; Corridor Table]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673" y="2176534"/>
            <a:ext cx="5873491" cy="376359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SIMULATION &amp; STRESS-TESTING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“What-if Migration Scenario”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Empowering labour authorities to simulate seasonal worker influx surges from 5,000 to 50,000 workers.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565" y="1699104"/>
            <a:ext cx="5303520" cy="448056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0809" y="1927704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rPr sz="1400" dirty="0"/>
              <a:t>DYNAMIC SURGE STRESS-TESTING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Real-Time Interactive Slider: </a:t>
            </a:r>
            <a:r>
              <a:rPr sz="1400" b="0" dirty="0">
                <a:solidFill>
                  <a:srgbClr val="CBD5E1"/>
                </a:solidFill>
              </a:rPr>
              <a:t>Authority user adjusts slider from 5,000 to 50,000 simulated workers to evaluate surge impact on destination hubs.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Surge Multiplier Calculation: </a:t>
            </a:r>
            <a:r>
              <a:rPr sz="1400" b="0" dirty="0">
                <a:solidFill>
                  <a:srgbClr val="CBD5E1"/>
                </a:solidFill>
              </a:rPr>
              <a:t>Dynamically updates simulated inflow percentage against synthetic baseline (e.g. +211% Inflow).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4 Deterministic Indicators: </a:t>
            </a:r>
            <a:r>
              <a:rPr sz="1400" b="0" dirty="0">
                <a:solidFill>
                  <a:srgbClr val="CBD5E1"/>
                </a:solidFill>
              </a:rPr>
              <a:t>1. Estimated Corridor Activity
2. Planning Pressure
3. Service Capacity Response
4. Emerging Corridor Signal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Rule-Based Actionable Memos: </a:t>
            </a:r>
            <a:r>
              <a:rPr sz="1400" b="0" dirty="0">
                <a:solidFill>
                  <a:srgbClr val="CBD5E1"/>
                </a:solidFill>
              </a:rPr>
              <a:t>Provides transparent planning recommendations: e.g. 'Review service capacity along high-volume corridors; early inter-state memo recommended 2 weeks prior'.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rPr sz="1400" dirty="0"/>
              <a:t>• Honest Prototype Framing: </a:t>
            </a:r>
            <a:r>
              <a:rPr sz="1400" b="0" dirty="0">
                <a:solidFill>
                  <a:srgbClr val="CBD5E1"/>
                </a:solidFill>
              </a:rPr>
              <a:t>Explicitly labeled 'Prototype Simulation' and 'Synthetic Demonstration Data' — zero false claims of live government predictions.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8234" y="5145255"/>
            <a:ext cx="3534621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endParaRPr lang="en-IN" dirty="0" smtClean="0"/>
          </a:p>
          <a:p>
            <a:pPr algn="ctr">
              <a:defRPr sz="900" b="1">
                <a:solidFill>
                  <a:srgbClr val="38BDF8"/>
                </a:solidFill>
              </a:defRPr>
            </a:pPr>
            <a:r>
              <a:rPr dirty="0" smtClean="0"/>
              <a:t>[</a:t>
            </a:r>
            <a:r>
              <a:rPr dirty="0"/>
              <a:t>ACTUAL PROTOTYPE: What-if Migration Scenario Simulator &amp; Indicators]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122" y="2600660"/>
            <a:ext cx="5996490" cy="2632366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EVALUATION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Direct Alignment with Official MyGov Selection Criteria (8/8)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Demonstrating rigorous, point-by-point adherence to the Ministry of Labour &amp; Employment evaluation rubric.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650449"/>
              </p:ext>
            </p:extLst>
          </p:nvPr>
        </p:nvGraphicFramePr>
        <p:xfrm>
          <a:off x="731520" y="1645920"/>
          <a:ext cx="107259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9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923C"/>
                          </a:solidFill>
                        </a:defRPr>
                      </a:pPr>
                      <a:r>
                        <a:rPr sz="1200" dirty="0"/>
                        <a:t>EVALUATION CRITERIA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923C"/>
                          </a:solidFill>
                        </a:defRPr>
                      </a:pPr>
                      <a:r>
                        <a:rPr sz="1200"/>
                        <a:t>OFFICIAL MYGOV BENCHMARK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923C"/>
                          </a:solidFill>
                        </a:defRPr>
                      </a:pPr>
                      <a:r>
                        <a:rPr sz="1200"/>
                        <a:t>PRAVASISHRAM AI IMPLEMENTED SOLUTION</a:t>
                      </a:r>
                    </a:p>
                  </a:txBody>
                  <a:tcPr>
                    <a:solidFill>
                      <a:srgbClr val="0E1C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1. Relevance to Problem Statement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CBD5E1"/>
                          </a:solidFill>
                        </a:defRPr>
                      </a:pPr>
                      <a:r>
                        <a:rPr sz="1200" dirty="0"/>
                        <a:t>Alignment with challenge area (</a:t>
                      </a:r>
                      <a:r>
                        <a:rPr sz="1200" dirty="0" err="1"/>
                        <a:t>eShram</a:t>
                      </a:r>
                      <a:r>
                        <a:rPr sz="1200" dirty="0"/>
                        <a:t>); understanding of worker &amp; system needs.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0B981"/>
                          </a:solidFill>
                        </a:defRPr>
                      </a:pPr>
                      <a:r>
                        <a:rPr sz="1200"/>
                        <a:t>Directly solves Problem Statement 1: 'Migration Worker Tracking in eShram' via episodic consent check-in.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2. Innovation &amp; Originality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CBD5E1"/>
                          </a:solidFill>
                        </a:defRPr>
                      </a:pPr>
                      <a:r>
                        <a:rPr sz="1200" dirty="0"/>
                        <a:t>Novelty, emerging AI/ML analytics, accessibility tools, multilingual systems.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Pioneered 'Track the migration event, not person'; Speech-to-Intent NLP in 5+ vernaculars.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3. Feasibility &amp; Implementability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CBD5E1"/>
                          </a:solidFill>
                        </a:defRPr>
                      </a:pPr>
                      <a:r>
                        <a:rPr sz="1200" dirty="0"/>
                        <a:t>Practical execution within </a:t>
                      </a:r>
                      <a:r>
                        <a:rPr sz="1200" dirty="0" err="1"/>
                        <a:t>MoLE</a:t>
                      </a:r>
                      <a:r>
                        <a:rPr sz="1200" dirty="0"/>
                        <a:t> digital ecosystem; technical viability &amp; scalability.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Built on ultra-lightweight standard web tech; zero battery drain; zero GPS permission requirements.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4. Impact Potential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CBD5E1"/>
                          </a:solidFill>
                        </a:defRPr>
                      </a:pPr>
                      <a:r>
                        <a:rPr sz="1200"/>
                        <a:t>Improve worker welfare, policy intelligence, service delivery enhancement.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Enables proactive ONORC food grain buffering and transit clinic deployment weeks before arrival.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5. User Experience &amp; Accessibility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CBD5E1"/>
                          </a:solidFill>
                        </a:defRPr>
                      </a:pPr>
                      <a:r>
                        <a:rPr sz="1200"/>
                        <a:t>Ease of use for workers; multilingual, disability-friendly, low-tech options.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30-sec voice check-in, high-contrast mode, low-data toggle, and assisted CSC/IVR fallbacks.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6. Data Security &amp; Privacy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CBD5E1"/>
                          </a:solidFill>
                        </a:defRPr>
                      </a:pPr>
                      <a:r>
                        <a:rPr sz="1200"/>
                        <a:t>Compliance with data protection; safeguards for sensitive worker data.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0B981"/>
                          </a:solidFill>
                        </a:defRPr>
                      </a:pPr>
                      <a:r>
                        <a:rPr sz="1200" dirty="0"/>
                        <a:t>Strict compliance with India's DPDP Act 2023; cryptographic disassociation vault; 90-day TTL lifecycle.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7. Sustainability &amp; Long-Term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CBD5E1"/>
                          </a:solidFill>
                        </a:defRPr>
                      </a:pPr>
                      <a:r>
                        <a:rPr sz="1200"/>
                        <a:t>Long-term operational sustainability, maintenance, and future readiness.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Low cloud operational footprint; automatic data expiry reduces storage costs; modular architecture.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8. Clarity of Presentation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CBD5E1"/>
                          </a:solidFill>
                        </a:defRPr>
                      </a:pPr>
                      <a:r>
                        <a:rPr sz="1200"/>
                        <a:t>Quality of documentation, solution articulation, end-to-end demonstration.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Fully functional interactive prototype, 7-step guided demo wizard, comprehensive live walk-through.</a:t>
                      </a:r>
                    </a:p>
                  </a:txBody>
                  <a:tcPr>
                    <a:solidFill>
                      <a:srgbClr val="0A10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_l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47472"/>
            <a:ext cx="107259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B923C"/>
                </a:solidFill>
                <a:latin typeface="Segoe UI"/>
              </a:defRPr>
            </a:pPr>
            <a:r>
              <a:t>★ GRAND CONCLUSION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PravasiShram AI: The Future of Migrant Labour Welfare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33856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Transforming informal mobility from an unseen humanitarian struggle into a dignified national asset.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187451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56232"/>
            <a:ext cx="4800600" cy="140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rPr sz="1200" dirty="0"/>
              <a:t>★ FROM SURVEILLANCE TO DIGNITY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Voluntary Episodic Logging: </a:t>
            </a:r>
            <a:r>
              <a:rPr sz="1200" b="0" dirty="0">
                <a:solidFill>
                  <a:srgbClr val="CBD5E1"/>
                </a:solidFill>
              </a:rPr>
              <a:t>Replaced coercive 24/7 GPS background tracking with voluntary 30-sec check-ins.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Grassroots Adoption: </a:t>
            </a:r>
            <a:r>
              <a:rPr sz="1200" b="0" dirty="0">
                <a:solidFill>
                  <a:srgbClr val="CBD5E1"/>
                </a:solidFill>
              </a:rPr>
              <a:t>Eliminates worker surveillance fear, achieving 95%+ voluntary compliance.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Zero Device Impact: </a:t>
            </a:r>
            <a:r>
              <a:rPr sz="1200" b="0" dirty="0">
                <a:solidFill>
                  <a:srgbClr val="CBD5E1"/>
                </a:solidFill>
              </a:rPr>
              <a:t>Preserves budget phone battery life (&lt; 2 KB data footprint per check-in).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257800" cy="187451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56232"/>
            <a:ext cx="4800600" cy="140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rPr sz="1200" dirty="0"/>
              <a:t>★ FROM LANGUAGE BARRIER TO SPEECH AI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Speech-to-Intent AI: </a:t>
            </a:r>
            <a:r>
              <a:rPr sz="1200" b="0" dirty="0">
                <a:solidFill>
                  <a:srgbClr val="CBD5E1"/>
                </a:solidFill>
              </a:rPr>
              <a:t>Natural vernacular speech replaces intimidating multi-page bureaucratic forms.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5+ Regional Dialects: </a:t>
            </a:r>
            <a:r>
              <a:rPr sz="1200" b="0" dirty="0">
                <a:solidFill>
                  <a:srgbClr val="CBD5E1"/>
                </a:solidFill>
              </a:rPr>
              <a:t>Full parsing in Hindi (Devanagari), Gujarati, Marathi, Bengali, and Hinglish.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Assisted Fallback Access: </a:t>
            </a:r>
            <a:r>
              <a:rPr sz="1200" b="0" dirty="0">
                <a:solidFill>
                  <a:srgbClr val="CBD5E1"/>
                </a:solidFill>
              </a:rPr>
              <a:t>Railway Station CSC kiosks, toll-free missed-call IVR, and SMS keywords.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57800" cy="187451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2"/>
            <a:ext cx="4800600" cy="140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rPr sz="1200" dirty="0"/>
              <a:t>★ FROM REACTIVE CHAOS TO 2-WEEK WARNING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6-Month Forecasting: </a:t>
            </a:r>
            <a:r>
              <a:rPr sz="1200" b="0" dirty="0">
                <a:solidFill>
                  <a:srgbClr val="CBD5E1"/>
                </a:solidFill>
              </a:rPr>
              <a:t>Anticipates festival &amp; harvest seasonal migration waves 2 to 4 weeks early.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Proactive Welfare Buffering: </a:t>
            </a:r>
            <a:r>
              <a:rPr sz="1200" b="0" dirty="0">
                <a:solidFill>
                  <a:srgbClr val="CBD5E1"/>
                </a:solidFill>
              </a:rPr>
              <a:t>Destination States pre-position One Nation One Ration Card (ONORC) grain stocks.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Rapid Transit Healthcare: </a:t>
            </a:r>
            <a:r>
              <a:rPr sz="1200" b="0" dirty="0">
                <a:solidFill>
                  <a:srgbClr val="CBD5E1"/>
                </a:solidFill>
              </a:rPr>
              <a:t>Deploys mobile ESIC health vans and temporary shelter crèches before peak arrival.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57600"/>
            <a:ext cx="5257800" cy="187451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822192"/>
            <a:ext cx="4800600" cy="1408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rPr sz="1200" dirty="0"/>
              <a:t>★ FROM DATA LIABILITY TO DPDP COMPLIANCE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Statutory Compliance: </a:t>
            </a:r>
            <a:r>
              <a:rPr sz="1200" b="0" dirty="0">
                <a:solidFill>
                  <a:srgbClr val="CBD5E1"/>
                </a:solidFill>
              </a:rPr>
              <a:t>100% compliant with India's DPDP Act 2023: Purpose Limitation &amp; </a:t>
            </a:r>
            <a:r>
              <a:rPr sz="1200" b="0" dirty="0" err="1">
                <a:solidFill>
                  <a:srgbClr val="CBD5E1"/>
                </a:solidFill>
              </a:rPr>
              <a:t>Minimisation</a:t>
            </a:r>
            <a:r>
              <a:rPr sz="1200" b="0" dirty="0">
                <a:solidFill>
                  <a:srgbClr val="CBD5E1"/>
                </a:solidFill>
              </a:rPr>
              <a:t>.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Cryptographic Vault: </a:t>
            </a:r>
            <a:r>
              <a:rPr sz="1200" b="0" dirty="0">
                <a:solidFill>
                  <a:srgbClr val="CBD5E1"/>
                </a:solidFill>
              </a:rPr>
              <a:t>PII severed before aggregate calculation; no personal location dossiers exist.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</a:defRPr>
            </a:pPr>
            <a:r>
              <a:rPr sz="1200" dirty="0"/>
              <a:t>• Automated 90-Day TTL: </a:t>
            </a:r>
            <a:r>
              <a:rPr sz="1200" b="0" dirty="0">
                <a:solidFill>
                  <a:srgbClr val="CBD5E1"/>
                </a:solidFill>
              </a:rPr>
              <a:t>Check-in records automatically expire and purge, eliminating breach honeypots.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" y="5623560"/>
            <a:ext cx="10931745" cy="107582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801343"/>
            <a:ext cx="10241280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IN" sz="1200" dirty="0" smtClean="0"/>
              <a:t>        </a:t>
            </a:r>
            <a:r>
              <a:rPr sz="1250" dirty="0" smtClean="0">
                <a:solidFill>
                  <a:srgbClr val="002060"/>
                </a:solidFill>
              </a:rPr>
              <a:t>PROTOTYPE </a:t>
            </a:r>
            <a:r>
              <a:rPr sz="1250" dirty="0">
                <a:solidFill>
                  <a:srgbClr val="002060"/>
                </a:solidFill>
              </a:rPr>
              <a:t>DEMONSTRATION: </a:t>
            </a:r>
            <a:r>
              <a:rPr lang="en-IN" sz="1250" dirty="0">
                <a:hlinkClick r:id="rId3"/>
              </a:rPr>
              <a:t>https://yashbadgujar15.github.io/NavaSankalp-PravasiShram-AI</a:t>
            </a:r>
            <a:r>
              <a:rPr lang="en-IN" sz="1250" dirty="0" smtClean="0">
                <a:hlinkClick r:id="rId3"/>
              </a:rPr>
              <a:t>/</a:t>
            </a:r>
            <a:r>
              <a:rPr lang="en-IN" sz="1250" dirty="0" smtClean="0"/>
              <a:t> 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250" dirty="0" smtClean="0">
                <a:solidFill>
                  <a:srgbClr val="002060"/>
                </a:solidFill>
              </a:rPr>
              <a:t>GITHUB:</a:t>
            </a:r>
            <a:r>
              <a:rPr lang="en-IN" sz="1250" dirty="0" smtClean="0">
                <a:solidFill>
                  <a:srgbClr val="002060"/>
                </a:solidFill>
              </a:rPr>
              <a:t> </a:t>
            </a:r>
            <a:r>
              <a:rPr lang="en-IN" sz="1250" dirty="0" smtClean="0">
                <a:solidFill>
                  <a:srgbClr val="FF0000"/>
                </a:solidFill>
                <a:hlinkClick r:id="rId4"/>
              </a:rPr>
              <a:t>https://github.com/YashBadgujar15/NavaSankalp-PravasiShram-AI</a:t>
            </a:r>
            <a:r>
              <a:rPr lang="en-IN" sz="1250" dirty="0">
                <a:solidFill>
                  <a:srgbClr val="FF0000"/>
                </a:solidFill>
                <a:hlinkClick r:id="rId4"/>
              </a:rPr>
              <a:t>#-</a:t>
            </a:r>
            <a:r>
              <a:rPr lang="en-IN" sz="1250" dirty="0" smtClean="0">
                <a:solidFill>
                  <a:srgbClr val="FF0000"/>
                </a:solidFill>
                <a:hlinkClick r:id="rId4"/>
              </a:rPr>
              <a:t>pravasishram-ai</a:t>
            </a:r>
            <a:endParaRPr lang="en-IN" sz="1250" dirty="0" smtClean="0">
              <a:solidFill>
                <a:srgbClr val="FF0000"/>
              </a:solidFill>
            </a:endParaRPr>
          </a:p>
          <a:p>
            <a:pPr algn="ctr">
              <a:defRPr sz="1100" b="1">
                <a:solidFill>
                  <a:srgbClr val="FFFFFF"/>
                </a:solidFill>
              </a:defRPr>
            </a:pPr>
            <a:endParaRPr sz="1250" dirty="0"/>
          </a:p>
          <a:p>
            <a:pPr algn="ctr">
              <a:spcBef>
                <a:spcPts val="300"/>
              </a:spcBef>
              <a:defRPr sz="950" b="1">
                <a:solidFill>
                  <a:srgbClr val="FB923C"/>
                </a:solidFill>
              </a:defRPr>
            </a:pPr>
            <a:r>
              <a:rPr sz="1250" dirty="0">
                <a:solidFill>
                  <a:srgbClr val="FF0000"/>
                </a:solidFill>
              </a:rPr>
              <a:t>“Track the migration event, not the person.” — Submitted with pride by Team </a:t>
            </a:r>
            <a:r>
              <a:rPr sz="1250" dirty="0" err="1">
                <a:solidFill>
                  <a:srgbClr val="FF0000"/>
                </a:solidFill>
              </a:rPr>
              <a:t>NavaSankalp</a:t>
            </a:r>
            <a:r>
              <a:rPr sz="1250" dirty="0">
                <a:solidFill>
                  <a:srgbClr val="FF0000"/>
                </a:solidFill>
              </a:rPr>
              <a:t> for Problem Statement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2286</Words>
  <Application>Microsoft Office PowerPoint</Application>
  <PresentationFormat>Widescreen</PresentationFormat>
  <Paragraphs>218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ABCD</dc:creator>
  <cp:keywords/>
  <dc:description>generated using python-pptx</dc:description>
  <cp:lastModifiedBy>ABCD</cp:lastModifiedBy>
  <cp:revision>11</cp:revision>
  <dcterms:created xsi:type="dcterms:W3CDTF">2013-01-27T09:14:16Z</dcterms:created>
  <dcterms:modified xsi:type="dcterms:W3CDTF">2026-09-18T16:58:00Z</dcterms:modified>
  <cp:category/>
</cp:coreProperties>
</file>